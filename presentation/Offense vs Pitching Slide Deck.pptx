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85" r:id="rId15"/>
    <p:sldId id="2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>
        <p:scale>
          <a:sx n="47" d="100"/>
          <a:sy n="47" d="100"/>
        </p:scale>
        <p:origin x="-77" y="643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73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303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70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276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955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26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09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853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1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58" y="3258164"/>
            <a:ext cx="10647679" cy="188359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</a:rPr>
              <a:t>Offense vs. Defense: An Analysis of Winning in Major League Baseball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 smtClean="0">
                <a:solidFill>
                  <a:schemeClr val="accent4"/>
                </a:solidFill>
              </a:rPr>
              <a:t>Adrian Montez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974329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 rot="18895011">
            <a:off x="5939875" y="1619281"/>
            <a:ext cx="313784" cy="31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18895011">
            <a:off x="4857749" y="537920"/>
            <a:ext cx="313784" cy="31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18895011">
            <a:off x="7031675" y="537919"/>
            <a:ext cx="313784" cy="31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53078" y="6400800"/>
            <a:ext cx="608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MLB Teams, 2015-2024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93768" y="522898"/>
            <a:ext cx="38982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34954"/>
            <a:ext cx="11734800" cy="9971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Motivation &amp;</a:t>
            </a:r>
          </a:p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 Question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83406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1476373"/>
            <a:ext cx="117348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Motivation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Teams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deal with limited resources and many trade-off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Ex. Signing a talented pitcher could mean losing out on getting a valuable offensive player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Modern analytics provide standardized metrics for both dimensions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This analysis aims to provide insight on how to efficiently evaluate players</a:t>
            </a:r>
          </a:p>
          <a:p>
            <a:pPr>
              <a:spcBef>
                <a:spcPts val="36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 Question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Which dimension (offense or pitching) is more strongly associated with team winning percentage?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Note: Analysis focuses on </a:t>
            </a:r>
            <a:r>
              <a:rPr lang="en-US" sz="20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association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not causation</a:t>
            </a:r>
          </a:p>
        </p:txBody>
      </p:sp>
      <p:pic>
        <p:nvPicPr>
          <p:cNvPr id="1026" name="Picture 2" descr="Trade-offs between ecosystem services | OPERAs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5057" y="753979"/>
            <a:ext cx="1623212" cy="162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rrelation Versus Causation - When two things are related, does one  usually cause the other?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136" y="5306744"/>
            <a:ext cx="1978861" cy="1326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93768" y="522898"/>
            <a:ext cx="38982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9332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Data Overview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83406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1059281"/>
            <a:ext cx="11734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Dataset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Unit of Analysis: Team-Season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Time Frame: 2015-2024 (excluding 2020)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Sample Size: 30 teams x 9 seasons = 270 individual points</a:t>
            </a:r>
          </a:p>
          <a:p>
            <a:pPr>
              <a:spcBef>
                <a:spcPts val="36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Sources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 Metrics: </a:t>
            </a:r>
            <a:r>
              <a:rPr lang="en-US" sz="2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FanGraphs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Sport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Reference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Payroll Data: </a:t>
            </a:r>
            <a:r>
              <a:rPr lang="en-US" sz="2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Spotrac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Data is publicly available, standardized, and widely used in baseball analytics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0" name="Picture 2" descr="Calculate Sample Size using Survey Sampling Online Tools: Two Samples - The  DHS Program B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485" y="804250"/>
            <a:ext cx="3091280" cy="172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ajor League Baseball - Wikipedia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758" y="5492239"/>
            <a:ext cx="2472907" cy="133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92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93768" y="522898"/>
            <a:ext cx="3898232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9332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Key Variables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834063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914903"/>
            <a:ext cx="11734800" cy="546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Outcome Variable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Winning Percentage (</a:t>
            </a:r>
            <a:r>
              <a:rPr lang="en-US" sz="2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WPct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Derived from wins and losses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Offense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Weighted Runs Created Plus (</a:t>
            </a:r>
            <a:r>
              <a:rPr lang="en-US" sz="2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wRC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+)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100 = league average</a:t>
            </a: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Pitching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Fielding Independent Pitching Minus (FIP-)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Lower values indicate better pitching</a:t>
            </a: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Control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Log-transformed Team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ayroll</a:t>
            </a:r>
          </a:p>
        </p:txBody>
      </p:sp>
      <p:pic>
        <p:nvPicPr>
          <p:cNvPr id="3074" name="Picture 2" descr="Who provides more of the power a pitcher or a batter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210" y="1741419"/>
            <a:ext cx="3842084" cy="384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48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46695" y="522898"/>
            <a:ext cx="354530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9332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Analytical Approach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971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914903"/>
            <a:ext cx="117348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Method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Ordinary Least Squares (OLS) regression</a:t>
            </a: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Model Intuition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Estimate marginal associations between: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Offensive performance and winning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Pitching performance and winning</a:t>
            </a: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Controls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Payroll included to account for resource differences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Interpretation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Coefficients interpreted as conditional associations</a:t>
            </a:r>
          </a:p>
        </p:txBody>
      </p:sp>
      <p:pic>
        <p:nvPicPr>
          <p:cNvPr id="4098" name="Picture 2" descr="What Is Multiple Linear Regression (MLR)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765" y="1011568"/>
            <a:ext cx="4940635" cy="208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36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999621" y="522898"/>
            <a:ext cx="31923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9332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Descriptive Relationships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208421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4606764"/>
            <a:ext cx="11734800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Observed Patterns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Higher </a:t>
            </a:r>
            <a:r>
              <a:rPr lang="en-US" sz="2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wRC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 is associated with higher winning percentage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Lower FIP- is associated with higher winning percentage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Slightly stronger, tighter relationship between pitching and winning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46" y="952973"/>
            <a:ext cx="4694754" cy="365379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56780"/>
            <a:ext cx="4664478" cy="364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25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46695" y="522898"/>
            <a:ext cx="354530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9332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 Results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971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882819"/>
            <a:ext cx="117348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Key Findings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Both offense (</a:t>
            </a:r>
            <a:r>
              <a:rPr lang="en-US" sz="2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wRC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+) and pitching (FIP-) are statistically significant predictors of winning percentage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Pitching shows a larger estimated marginal association than offense</a:t>
            </a: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Statistical Test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F-test rejects equality of coefficients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Interpretation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Pitching performance is more strongly associated with winning outcomes than offense</a:t>
            </a:r>
          </a:p>
        </p:txBody>
      </p:sp>
      <p:pic>
        <p:nvPicPr>
          <p:cNvPr id="5124" name="Picture 4" descr="Top MLB DFS Picks, 9/24: Target Pitchers Jacob deGrom, Max Frie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79"/>
          <a:stretch/>
        </p:blipFill>
        <p:spPr bwMode="auto">
          <a:xfrm>
            <a:off x="4500092" y="5021179"/>
            <a:ext cx="3179229" cy="183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57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46695" y="522898"/>
            <a:ext cx="354530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9332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Robustness &amp; Payroll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971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1299911"/>
            <a:ext cx="1173480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Alternative Metrics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OPS+ replaces </a:t>
            </a:r>
            <a:r>
              <a:rPr lang="en-US" sz="28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wRC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ERA- replaces FIP-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Results remain consistent</a:t>
            </a:r>
          </a:p>
          <a:p>
            <a:pPr>
              <a:spcBef>
                <a:spcPts val="24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Payroll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Payroll not statistically significant once performance is included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Suggests payroll influences winning primarily through on-field performance</a:t>
            </a:r>
          </a:p>
        </p:txBody>
      </p:sp>
      <p:pic>
        <p:nvPicPr>
          <p:cNvPr id="6146" name="Picture 2" descr="Double Check Labels, 2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760" y="909201"/>
            <a:ext cx="2662932" cy="266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5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46695" y="522898"/>
            <a:ext cx="354530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279332"/>
            <a:ext cx="11734800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Limitations &amp; Scope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971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1283869"/>
            <a:ext cx="1173480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Key Limitations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Observational data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→ no causal claims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Team-level aggregation masks within-team variation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Defensive performance not modeled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 team or year fixed effects included</a:t>
            </a:r>
          </a:p>
          <a:p>
            <a:pPr>
              <a:spcBef>
                <a:spcPts val="24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Implication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Results should be interpreted as descriptive and comparative, not prescriptive</a:t>
            </a:r>
          </a:p>
        </p:txBody>
      </p:sp>
    </p:spTree>
    <p:extLst>
      <p:ext uri="{BB962C8B-B14F-4D97-AF65-F5344CB8AC3E}">
        <p14:creationId xmlns:p14="http://schemas.microsoft.com/office/powerpoint/2010/main" val="1888272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46695" y="522898"/>
            <a:ext cx="354530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18912"/>
            <a:ext cx="11734800" cy="9971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Implications</a:t>
            </a:r>
          </a:p>
          <a:p>
            <a:pPr algn="ctr"/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&amp; Takeaways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497179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28600" y="1283869"/>
            <a:ext cx="11734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Relevance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Pitching metrics may be comparatively more useful for: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 diagnostics</a:t>
            </a:r>
          </a:p>
          <a:p>
            <a:pPr marL="914400" lvl="1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Comparative evaluation across teams</a:t>
            </a: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this does </a:t>
            </a:r>
            <a:r>
              <a:rPr lang="en-US" sz="2800" b="1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not 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imply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Not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prescription for roster construction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Not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causal rule for spending decisions</a:t>
            </a:r>
            <a:endParaRPr lang="en-US" sz="2800" i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Final Takeaway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Econometric tools can help clarify performance-outcome relationships in sports analysis</a:t>
            </a:r>
          </a:p>
        </p:txBody>
      </p:sp>
    </p:spTree>
    <p:extLst>
      <p:ext uri="{BB962C8B-B14F-4D97-AF65-F5344CB8AC3E}">
        <p14:creationId xmlns:p14="http://schemas.microsoft.com/office/powerpoint/2010/main" val="175714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2556445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436880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rot="18895011">
            <a:off x="5940633" y="5946470"/>
            <a:ext cx="313784" cy="31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18895011">
            <a:off x="5940632" y="3783748"/>
            <a:ext cx="313784" cy="31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8895011">
            <a:off x="4857750" y="4865109"/>
            <a:ext cx="313784" cy="31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8895011">
            <a:off x="7023373" y="4865110"/>
            <a:ext cx="313784" cy="315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Appendix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9C05F0C-382F-476A-A0D2-932E111A7F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11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30" y="1745881"/>
            <a:ext cx="5701789" cy="39971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647" y="1730641"/>
            <a:ext cx="5550182" cy="398181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5430" y="1395214"/>
            <a:ext cx="2501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Main Regression Results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68647" y="1395214"/>
            <a:ext cx="4153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Regression with Alternative Specifications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7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609EDA-869E-4BE5-AE5D-B898C584B6FF}">
  <ds:schemaRefs>
    <ds:schemaRef ds:uri="16c05727-aa75-4e4a-9b5f-8a80a1165891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71af3243-3dd4-4a8d-8c0d-dd76da1f02a5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0</TotalTime>
  <Words>493</Words>
  <Application>Microsoft Office PowerPoint</Application>
  <PresentationFormat>Widescreen</PresentationFormat>
  <Paragraphs>110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Segoe UI Light</vt:lpstr>
      <vt:lpstr>Wingdings</vt:lpstr>
      <vt:lpstr>Office Theme</vt:lpstr>
      <vt:lpstr>Offense vs. Defense: An Analysis of Winning in Major League Baseball Adrian Montez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Project analysis slide 3</vt:lpstr>
      <vt:lpstr>Thank You</vt:lpstr>
      <vt:lpstr>Project analysis 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2026-01-09T00:50:38Z</dcterms:created>
  <dcterms:modified xsi:type="dcterms:W3CDTF">2026-01-09T07:13:06Z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